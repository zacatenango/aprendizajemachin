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7"/>
  </p:notesMasterIdLst>
  <p:sldIdLst>
    <p:sldId id="263" r:id="rId5"/>
    <p:sldId id="276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95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10/12/2026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072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4E80E-D882-5166-3C05-AB59A14C6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4C53A1-77D8-2894-E9B6-A0D547F68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F1537-8B00-9490-36CD-FF2D279C4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1360C-F884-A8CC-98C4-387D554327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847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1172" y="3425399"/>
            <a:ext cx="7685140" cy="2621154"/>
          </a:xfrm>
        </p:spPr>
        <p:txBody>
          <a:bodyPr anchor="b">
            <a:noAutofit/>
          </a:bodyPr>
          <a:lstStyle>
            <a:lvl1pPr algn="l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1172" y="415057"/>
            <a:ext cx="7685139" cy="1414091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04EF954-66B1-4168-AF40-97F3DAF43FC4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1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26233410-150A-4A72-BF63-6D3ACBC30148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10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553616"/>
            <a:ext cx="7914087" cy="4008859"/>
          </a:xfrm>
        </p:spPr>
        <p:txBody>
          <a:bodyPr anchor="t">
            <a:normAutofit/>
          </a:bodyPr>
          <a:lstStyle>
            <a:lvl1pPr>
              <a:defRPr sz="6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5088156"/>
            <a:ext cx="7914087" cy="1166648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172" y="6490524"/>
            <a:ext cx="2841959" cy="336141"/>
          </a:xfrm>
        </p:spPr>
        <p:txBody>
          <a:bodyPr/>
          <a:lstStyle/>
          <a:p>
            <a:fld id="{91AF1D09-6B76-4716-AD3D-9F53166D3BF5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93370" y="6490524"/>
            <a:ext cx="2662834" cy="336141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205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2" y="293302"/>
            <a:ext cx="11125032" cy="9651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72" y="1384847"/>
            <a:ext cx="11125032" cy="4905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1D4C7-8630-4B98-978C-30388BBD4EE8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43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C13480A-5F85-4A30-80F2-F92581C6474C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B2BF18D3-87BE-4A2D-AD2C-B21E415FD900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73F0B94E-0195-4FC9-AEFD-CCBB878ACEDF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B0F68CC-6BDD-49E7-8971-97164A4B1FA2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4D5D5-F2FF-4BCB-BACC-FA9A736697CB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664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47D10D-DAA6-49BD-BCDC-42DE71F72A89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9C55D-C47D-42B9-AD20-3E2CCE08596C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44AD-1FB0-4882-B380-D102D5E41B49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FD0E9-BB2A-40F4-9FCA-339953EA9BCB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DCE86-7B4C-43EC-801D-4B957536C306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3FCD9-BE24-4676-9D2E-63D9ED82EDA2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A290A-121B-47D5-B4CD-63E70D76A5D5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58D8-7EDF-40A6-A98C-8CBDF59A319E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DF7C3E-B5DF-4043-B2F9-CD94B277B81B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4F04B89-F088-43E2-8F95-5A2E5E9F612E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0FCFF8D-E3E3-4D6C-85D1-1D24204FD961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AD81-0F74-4052-9D15-1FCBE10FF531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58567813-D47B-4BA9-A366-45E7794B6608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3C75A4F-7395-44C0-9A76-83F0F6EA512A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EEDCC-520A-464B-900A-5F7E0E1FFC43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6C1D43-E95A-44CE-BF39-AC264176BC74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395D-714C-468A-B505-16E3BDC41D6C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009D615-5030-44BE-B1E7-FCAF557FFC34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D8DDD-BB5E-4F5B-81F2-5E5F98B403C0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083588C5-4E32-4E6E-80AB-32A6125C957F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337EAFE-6A88-4B1F-9ABC-CA3CFB830DD6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0683-5F2F-44F3-8B59-45258C4FD45A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813EDC87-0EBE-4D2E-8804-E5F0EDA0B797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51CF56A9-FD41-47F4-80A0-DA74EEEC2541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BD270-9BF1-4C68-A7FA-BA016D8BB959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23AFB7-90A6-428C-A019-BBE6272496B8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9E47A9E-7C3C-4663-841E-C89520FA85A3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ED8FD-3F8D-425F-9991-7FB6FCCEC5A2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B3E3-A05B-4311-9C9A-DA8A512CAB97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FBAE2-1C27-41D0-8DBA-D202F753417F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53612-8941-41EA-ABBA-F717A06C8346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6CD22-E4B3-48A1-94CA-B89DB574ED80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38B47-093E-417D-A1C3-81EEF797AC69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0925D-4314-49E4-A383-289640FEB5E3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C59E0-667A-459A-BBD1-70DA72C3C576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CC00B-2F01-4379-B0FD-8DA094C16FA4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9F103-9E7C-4D5A-827C-0D2D66EE1CD2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173" y="285210"/>
            <a:ext cx="10653578" cy="9651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172" y="1384847"/>
            <a:ext cx="10653579" cy="4905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1172" y="6490524"/>
            <a:ext cx="2841959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072E1B28-DB45-4001-B295-7D7933E04419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93370" y="6490524"/>
            <a:ext cx="2662834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48431" y="6490524"/>
            <a:ext cx="457200" cy="3361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9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7" r:id="rId2"/>
    <p:sldLayoutId id="2147483740" r:id="rId3"/>
    <p:sldLayoutId id="2147483686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722" r:id="rId31"/>
    <p:sldLayoutId id="2147483723" r:id="rId32"/>
    <p:sldLayoutId id="2147483724" r:id="rId33"/>
    <p:sldLayoutId id="2147483725" r:id="rId34"/>
    <p:sldLayoutId id="2147483726" r:id="rId35"/>
    <p:sldLayoutId id="2147483727" r:id="rId36"/>
    <p:sldLayoutId id="214748372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RECOMMENDATIONS AND EVIDENCE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72345-EDED-4266-CFF8-650FF0BB1E4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Replacing needles every 5,000 operating hours yields a 42% lower operating cost.</a:t>
            </a:r>
            <a:endParaRPr lang="en-US" b="1" dirty="0"/>
          </a:p>
          <a:p>
            <a:r>
              <a:rPr lang="en-US" sz="1800" b="1" dirty="0"/>
              <a:t>Cost per 1,000 h: </a:t>
            </a:r>
            <a:r>
              <a:rPr lang="en-US" sz="1800" dirty="0"/>
              <a:t>$2,335 with scheduled replacement, vs. $4,058 running until failure.</a:t>
            </a:r>
          </a:p>
          <a:p>
            <a:r>
              <a:rPr lang="en-US" b="1" dirty="0"/>
              <a:t>Failures over 5 years:</a:t>
            </a:r>
            <a:r>
              <a:rPr lang="en-US" dirty="0"/>
              <a:t> from 30 to 4</a:t>
            </a:r>
          </a:p>
          <a:p>
            <a:r>
              <a:rPr lang="en-US" sz="1800" b="1" dirty="0"/>
              <a:t>Acceptable replacement range:</a:t>
            </a:r>
            <a:r>
              <a:rPr lang="en-US" sz="1800" dirty="0"/>
              <a:t> 4,250 – 5,000 h</a:t>
            </a:r>
          </a:p>
          <a:p>
            <a:r>
              <a:rPr lang="en-US" b="1" dirty="0"/>
              <a:t>Back test on unseen machines:</a:t>
            </a:r>
            <a:r>
              <a:rPr lang="en-US" dirty="0"/>
              <a:t> 33-44% savings</a:t>
            </a:r>
          </a:p>
          <a:p>
            <a:pPr marL="0" indent="0">
              <a:buNone/>
            </a:pPr>
            <a:endParaRPr lang="en-US" sz="1800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05E06-DEAE-0DD1-4D36-DFAC6C725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A4445-5DD2-41DC-BDE3-6A90E266904E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FE3EB-673E-77EF-2980-BA6EC57A5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F1C946-6068-4994-DA07-198833A32A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392" y="1362627"/>
            <a:ext cx="5296986" cy="41327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C7004C-00EA-26F5-97C5-5CE4949D4C6F}"/>
              </a:ext>
            </a:extLst>
          </p:cNvPr>
          <p:cNvSpPr txBox="1"/>
          <p:nvPr/>
        </p:nvSpPr>
        <p:spPr>
          <a:xfrm>
            <a:off x="1238250" y="6550872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Acoyani Garrido Sandoval, Israel Rivera Guzmán, Margarita Flores Ruiz, Oscar Gutiérrez Godoy &amp; Emilio Valerio Padilla</a:t>
            </a:r>
          </a:p>
        </p:txBody>
      </p:sp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02AB5-399C-6C3A-FA72-18961FBE9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AC309-D4AB-096E-CF79-AB317804B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Methods, models and risks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4BAF9-4A99-BAD1-78FC-26D2BAAA0D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064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Validated approach, with known limits</a:t>
            </a:r>
            <a:endParaRPr lang="en-US" b="1" dirty="0"/>
          </a:p>
          <a:p>
            <a:r>
              <a:rPr lang="en-US" sz="1800" b="1" dirty="0"/>
              <a:t>Approach:</a:t>
            </a:r>
            <a:r>
              <a:rPr lang="en-US" sz="1800" dirty="0"/>
              <a:t> Cleaned 2,605 to 2,600 records (audit). EDA: risk rises with hours. 9 models tested. Cost simulation from 3,000 to 10,000 h.</a:t>
            </a:r>
          </a:p>
          <a:p>
            <a:r>
              <a:rPr lang="en-US" sz="1800" b="1" dirty="0"/>
              <a:t>Sensitivity:</a:t>
            </a:r>
            <a:r>
              <a:rPr lang="en-US" sz="1800" dirty="0"/>
              <a:t> Failure cost </a:t>
            </a:r>
            <a:r>
              <a:rPr lang="nn-NO" sz="1800" dirty="0"/>
              <a:t>$10k / $20k / $40k -&gt; best T 5,000 / 5,000 / 4,500 h</a:t>
            </a:r>
          </a:p>
          <a:p>
            <a:r>
              <a:rPr lang="en-US" sz="1800" b="1" dirty="0"/>
              <a:t>Risks:</a:t>
            </a:r>
          </a:p>
          <a:p>
            <a:pPr lvl="1"/>
            <a:r>
              <a:rPr lang="en-US" dirty="0"/>
              <a:t>Censored lifetimes</a:t>
            </a:r>
          </a:p>
          <a:p>
            <a:pPr lvl="1"/>
            <a:r>
              <a:rPr lang="en-US" dirty="0"/>
              <a:t>Only 30 failures</a:t>
            </a:r>
          </a:p>
          <a:p>
            <a:pPr lvl="1"/>
            <a:r>
              <a:rPr lang="en-US" dirty="0"/>
              <a:t>History replay assumes non-changing conditions</a:t>
            </a:r>
          </a:p>
          <a:p>
            <a:r>
              <a:rPr lang="en-US" b="1" dirty="0"/>
              <a:t>Next steps:</a:t>
            </a:r>
            <a:r>
              <a:rPr lang="en-US" dirty="0"/>
              <a:t> Survival analysis and a pilot</a:t>
            </a:r>
            <a:endParaRPr lang="en-US" b="1" dirty="0"/>
          </a:p>
          <a:p>
            <a:endParaRPr lang="en-US" dirty="0"/>
          </a:p>
          <a:p>
            <a:pPr marL="0" indent="0">
              <a:buNone/>
            </a:pPr>
            <a:endParaRPr lang="en-US" sz="1800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8318C8-9EF8-0330-704A-6CE112B21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A4445-5DD2-41DC-BDE3-6A90E266904E}" type="datetime1">
              <a:rPr lang="en-US" smtClean="0"/>
              <a:t>10/12/2026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C4CEA-7774-4ACF-BBE6-BBC18EB30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C030FE-A7B5-9371-47E5-C6FEE234F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6938"/>
              </p:ext>
            </p:extLst>
          </p:nvPr>
        </p:nvGraphicFramePr>
        <p:xfrm>
          <a:off x="6851649" y="3119120"/>
          <a:ext cx="5025382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12691">
                  <a:extLst>
                    <a:ext uri="{9D8B030D-6E8A-4147-A177-3AD203B41FA5}">
                      <a16:colId xmlns:a16="http://schemas.microsoft.com/office/drawing/2014/main" val="2725290402"/>
                    </a:ext>
                  </a:extLst>
                </a:gridCol>
                <a:gridCol w="2512691">
                  <a:extLst>
                    <a:ext uri="{9D8B030D-6E8A-4147-A177-3AD203B41FA5}">
                      <a16:colId xmlns:a16="http://schemas.microsoft.com/office/drawing/2014/main" val="2253415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Logistic test 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836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353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270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model beats mean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021293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B5F590D-6984-2024-A258-7AFFECF4523F}"/>
              </a:ext>
            </a:extLst>
          </p:cNvPr>
          <p:cNvSpPr txBox="1"/>
          <p:nvPr/>
        </p:nvSpPr>
        <p:spPr>
          <a:xfrm>
            <a:off x="1238250" y="6550872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Acoyani Garrido Sandoval, Israel Rivera Guzmán, Margarita Flores Ruiz, Oscar Gutiérrez Godoy &amp; Emilio Valerio Padilla</a:t>
            </a:r>
          </a:p>
        </p:txBody>
      </p:sp>
    </p:spTree>
    <p:extLst>
      <p:ext uri="{BB962C8B-B14F-4D97-AF65-F5344CB8AC3E}">
        <p14:creationId xmlns:p14="http://schemas.microsoft.com/office/powerpoint/2010/main" val="1907758249"/>
      </p:ext>
    </p:extLst>
  </p:cSld>
  <p:clrMapOvr>
    <a:masterClrMapping/>
  </p:clrMapOvr>
</p:sld>
</file>

<file path=ppt/theme/theme1.xml><?xml version="1.0" encoding="utf-8"?>
<a:theme xmlns:a="http://schemas.openxmlformats.org/drawingml/2006/main" name="OasisVTI">
  <a:themeElements>
    <a:clrScheme name="Oasis">
      <a:dk1>
        <a:srgbClr val="131313"/>
      </a:dk1>
      <a:lt1>
        <a:sysClr val="window" lastClr="FFFFFF"/>
      </a:lt1>
      <a:dk2>
        <a:srgbClr val="3D3C33"/>
      </a:dk2>
      <a:lt2>
        <a:srgbClr val="F0EDE6"/>
      </a:lt2>
      <a:accent1>
        <a:srgbClr val="A57361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_win32_DN_V3" id="{65F5DFDA-B6D8-4F37-85B8-E95C858FA146}" vid="{998F2FB7-179B-41D4-99FF-60A4C828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{9850902D-59AD-4C56-B3BC-25005B22A94A}05f950ec-c865-457c-93ae-9eb2ef1c603f-TFa19fa653-f273-4169-96ef-448bb1cd1027_win32</Template>
  <TotalTime>17</TotalTime>
  <Words>200</Words>
  <Application>Microsoft Office PowerPoint</Application>
  <PresentationFormat>Widescreen</PresentationFormat>
  <Paragraphs>31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Neue Haas Grotesk Text Pro</vt:lpstr>
      <vt:lpstr>OasisVTI</vt:lpstr>
      <vt:lpstr>RECOMMENDATIONS AND EVIDENCE</vt:lpstr>
      <vt:lpstr>Methods, models and risks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Acoyani Garrido Sandoval</dc:creator>
  <cp:lastModifiedBy>Acoyani Garrido Sandoval</cp:lastModifiedBy>
  <cp:revision>11</cp:revision>
  <dcterms:created xsi:type="dcterms:W3CDTF">2026-10-13T04:04:43Z</dcterms:created>
  <dcterms:modified xsi:type="dcterms:W3CDTF">2026-10-13T04:24:35Z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